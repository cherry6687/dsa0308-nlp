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26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studies word structure. Running example: walk, walked, walker.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82880"/>
            <a:ext cx="8961120" cy="9204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0" y="1463040"/>
            <a:ext cx="4233672" cy="5394960"/>
          </a:xfrm>
          <a:prstGeom prst="rect">
            <a:avLst/>
          </a:prstGeom>
          <a:solidFill>
            <a:srgbClr val="D6E6F2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92640" y="1097280"/>
            <a:ext cx="3108960" cy="3108960"/>
          </a:xfrm>
          <a:prstGeom prst="ellipse">
            <a:avLst/>
          </a:prstGeom>
          <a:solidFill>
            <a:srgbClr val="C9DCCB">
              <a:alpha val="60000"/>
            </a:srgbClr>
          </a:solidFill>
          <a:ln w="12700">
            <a:solidFill>
              <a:srgbClr val="C9DC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0" y="5212080"/>
            <a:ext cx="2194560" cy="2194560"/>
          </a:xfrm>
          <a:prstGeom prst="ellipse">
            <a:avLst/>
          </a:prstGeom>
          <a:solidFill>
            <a:srgbClr val="BFD9DC">
              <a:alpha val="70000"/>
            </a:srgbClr>
          </a:solidFill>
          <a:ln w="12700">
            <a:solidFill>
              <a:srgbClr val="BFD9D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42720"/>
            <a:ext cx="71323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Analysis of Inflectional and Derivational Morphology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520440"/>
            <a:ext cx="7132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2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Morphological Classification and Language Analysis in Natural Language Processing</a:t>
            </a:r>
            <a:endParaRPr lang="en-US" sz="2400" b="1" dirty="0"/>
          </a:p>
        </p:txBody>
      </p:sp>
      <p:sp>
        <p:nvSpPr>
          <p:cNvPr id="10" name="Text 7"/>
          <p:cNvSpPr txBox="1"/>
          <p:nvPr/>
        </p:nvSpPr>
        <p:spPr>
          <a:xfrm>
            <a:off x="432816" y="5257800"/>
            <a:ext cx="3675888" cy="1305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2400" dirty="0">
                <a:latin typeface="Times New Roman" pitchFamily="34" charset="0"/>
                <a:cs typeface="Times New Roman" pitchFamily="34" charset="-120"/>
              </a:rPr>
              <a:t>Presented By:</a:t>
            </a:r>
          </a:p>
          <a:p>
            <a:pPr marL="0" indent="0" algn="l">
              <a:buNone/>
            </a:pPr>
            <a:r>
              <a:rPr lang="en-US" sz="2400" dirty="0">
                <a:latin typeface="Times New Roman" pitchFamily="34" charset="0"/>
                <a:cs typeface="Times New Roman" pitchFamily="34" charset="-120"/>
              </a:rPr>
              <a:t>C G Charishma(192472193)</a:t>
            </a:r>
          </a:p>
          <a:p>
            <a:pPr marL="0" indent="0" algn="l">
              <a:buNone/>
            </a:pPr>
            <a:r>
              <a:rPr lang="en-US" sz="2400" dirty="0">
                <a:latin typeface="Times New Roman" pitchFamily="34" charset="0"/>
                <a:cs typeface="Times New Roman" pitchFamily="34" charset="-120"/>
              </a:rPr>
              <a:t>M Arshini(192424322)</a:t>
            </a:r>
            <a:endParaRPr lang="en-US" sz="2400" dirty="0"/>
          </a:p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183880" y="210312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D98C7A"/>
          </a:solidFill>
          <a:ln w="12700">
            <a:solidFill>
              <a:srgbClr val="D98C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83880" y="2103120"/>
            <a:ext cx="10058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9281160" y="210312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81160" y="2103120"/>
            <a:ext cx="15544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happi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10927080" y="210312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27080" y="2103120"/>
            <a:ext cx="10972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ness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8183880" y="338328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5F8F73"/>
          </a:solidFill>
          <a:ln w="12700">
            <a:solidFill>
              <a:srgbClr val="5F8F7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83880" y="3383280"/>
            <a:ext cx="15544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9829800" y="338328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EAD9A6"/>
          </a:solidFill>
          <a:ln w="12700">
            <a:solidFill>
              <a:srgbClr val="EAD9A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829800" y="3383280"/>
            <a:ext cx="10058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-ed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10927080" y="338328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F0CFC6"/>
          </a:solidFill>
          <a:ln w="12700">
            <a:solidFill>
              <a:srgbClr val="F0CF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27080" y="3383280"/>
            <a:ext cx="10972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-er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572000"/>
            <a:ext cx="3840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Words are built from meaningful units</a:t>
            </a: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D11591-D76E-DB6E-D14F-BAA21324D011}"/>
              </a:ext>
            </a:extLst>
          </p:cNvPr>
          <p:cNvSpPr txBox="1"/>
          <p:nvPr/>
        </p:nvSpPr>
        <p:spPr>
          <a:xfrm>
            <a:off x="5391912" y="5257800"/>
            <a:ext cx="2471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By: </a:t>
            </a:r>
          </a:p>
          <a:p>
            <a:r>
              <a:rPr lang="en-US" sz="2400" dirty="0">
                <a:latin typeface="Times New Roman" pitchFamily="34" charset="0"/>
                <a:cs typeface="Times New Roman" pitchFamily="34" charset="-120"/>
              </a:rPr>
              <a:t>Saravanan M S 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1920240"/>
            <a:ext cx="566928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Morphology: </a:t>
            </a: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words are built from morphemes.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Inflection: </a:t>
            </a: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changes grammatical form (walk → walked).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Derivation: </a:t>
            </a: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forms a new word (walk → walker).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NLP: </a:t>
            </a: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relate word forms.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6583680" y="320040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0" y="3200400"/>
            <a:ext cx="17373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9144000" y="19202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AD9A6"/>
          </a:solidFill>
          <a:ln w="12700">
            <a:solidFill>
              <a:srgbClr val="EAD9A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44000" y="1920240"/>
            <a:ext cx="26517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walked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-ed: inflection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9144000" y="45720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0CFC6"/>
          </a:solidFill>
          <a:ln w="12700">
            <a:solidFill>
              <a:srgbClr val="F0CFC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144000" y="4572000"/>
            <a:ext cx="26517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walker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-er: derivation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 flipV="1">
            <a:off x="8321040" y="2560320"/>
            <a:ext cx="822960" cy="914400"/>
          </a:xfrm>
          <a:prstGeom prst="line">
            <a:avLst/>
          </a:prstGeom>
          <a:noFill/>
          <a:ln w="317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321040" y="4023360"/>
            <a:ext cx="822960" cy="1005840"/>
          </a:xfrm>
          <a:prstGeom prst="line">
            <a:avLst/>
          </a:prstGeom>
          <a:noFill/>
          <a:ln w="31750">
            <a:solidFill>
              <a:srgbClr val="D98C7A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and Objectives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9202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4F9FB"/>
          </a:solidFill>
          <a:ln w="15875">
            <a:solidFill>
              <a:srgbClr val="D6E6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7F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06040"/>
            <a:ext cx="50292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root, many forms: teach, teacher, teachers.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-s and -er look alike but differ in function.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Wrong analysis hurts search and translation.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4F9FB"/>
          </a:solidFill>
          <a:ln w="15875">
            <a:solidFill>
              <a:srgbClr val="D6E6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96596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7F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2606040"/>
            <a:ext cx="50292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inflection and derivation.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Analyse words into morphemes.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 both to NLP tasks.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Theory: Foundations of Morphology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920240"/>
            <a:ext cx="56692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Morpheme: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smallest meaningful unit.</a:t>
            </a:r>
            <a:endParaRPr lang="en-US" sz="2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meaning (happy).</a:t>
            </a:r>
            <a:endParaRPr lang="en-US" sz="2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Stem: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 for an affix (unhappy).</a:t>
            </a:r>
            <a:endParaRPr lang="en-US" sz="2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Affix: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prefix un-, suffix -ness.</a:t>
            </a:r>
            <a:endParaRPr lang="en-US" sz="2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Contrast: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inflection adjusts grammar; derivation forms words.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87452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unhappiness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583680" y="256032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D98C7A"/>
          </a:solidFill>
          <a:ln w="12700">
            <a:solidFill>
              <a:srgbClr val="D98C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560320"/>
            <a:ext cx="1371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un-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8046720" y="25603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2560320"/>
            <a:ext cx="19202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happy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0058400" y="256032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0" y="2560320"/>
            <a:ext cx="15544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-ness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E70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prefix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E70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E70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suffix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046720" y="4023360"/>
            <a:ext cx="3566160" cy="128016"/>
          </a:xfrm>
          <a:prstGeom prst="rect">
            <a:avLst/>
          </a:prstGeom>
          <a:solidFill>
            <a:srgbClr val="C9DCCB"/>
          </a:solidFill>
          <a:ln w="12700">
            <a:solidFill>
              <a:srgbClr val="C9DCC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stem for -ness: unhappy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6583680" y="4846320"/>
            <a:ext cx="5029200" cy="1097280"/>
          </a:xfrm>
          <a:prstGeom prst="roundRect">
            <a:avLst>
              <a:gd name="adj" fmla="val 8333"/>
            </a:avLst>
          </a:prstGeom>
          <a:solidFill>
            <a:srgbClr val="EEF2F1"/>
          </a:solidFill>
          <a:ln w="12700">
            <a:solidFill>
              <a:srgbClr val="EEF2F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0" y="4846320"/>
            <a:ext cx="50292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Spelling: y → i before -ness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Concepts: Inflectional Morphology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920240"/>
            <a:ext cx="52120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Adds grammatical information only.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Tense, number, person, case, agreement.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Keeps the lexeme and usually the word class.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035040" y="233172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C9DCCB"/>
          </a:solidFill>
          <a:ln w="12700">
            <a:solidFill>
              <a:srgbClr val="C9DC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past tense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680960" y="2743200"/>
            <a:ext cx="1737360" cy="0"/>
          </a:xfrm>
          <a:prstGeom prst="line">
            <a:avLst/>
          </a:prstGeom>
          <a:noFill/>
          <a:ln w="31750">
            <a:solidFill>
              <a:srgbClr val="2A7F8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509760" y="233172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EAD9A6"/>
          </a:solidFill>
          <a:ln w="12700">
            <a:solidFill>
              <a:srgbClr val="EAD9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walked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035040" y="365760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C9DCCB"/>
          </a:solidFill>
          <a:ln w="12700">
            <a:solidFill>
              <a:srgbClr val="C9DC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3657600"/>
            <a:ext cx="15544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plural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7680960" y="4069080"/>
            <a:ext cx="1737360" cy="0"/>
          </a:xfrm>
          <a:prstGeom prst="line">
            <a:avLst/>
          </a:prstGeom>
          <a:noFill/>
          <a:ln w="31750">
            <a:solidFill>
              <a:srgbClr val="2A7F8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509760" y="36576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EAD9A6"/>
          </a:solidFill>
          <a:ln w="12700">
            <a:solidFill>
              <a:srgbClr val="EAD9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cats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6035040" y="498348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C9DCCB"/>
          </a:solidFill>
          <a:ln w="12700">
            <a:solidFill>
              <a:srgbClr val="C9DCC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35040" y="4983480"/>
            <a:ext cx="15544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play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3rd person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7680960" y="5394960"/>
            <a:ext cx="1737360" cy="0"/>
          </a:xfrm>
          <a:prstGeom prst="line">
            <a:avLst/>
          </a:prstGeom>
          <a:noFill/>
          <a:ln w="31750">
            <a:solidFill>
              <a:srgbClr val="2A7F8A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509760" y="49834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EAD9A6"/>
          </a:solidFill>
          <a:ln w="12700">
            <a:solidFill>
              <a:srgbClr val="EAD9A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509760" y="4983480"/>
            <a:ext cx="21031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plays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Concepts: Derivational Morphology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920240"/>
            <a:ext cx="52120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Forms a new word or changes meaning.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May change the word class.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 regular than inflection.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Also: teach → teacher, kind → kindness.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943600" y="35204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3520440"/>
            <a:ext cx="1737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happy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8503920" y="187452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F0CFC6"/>
          </a:solidFill>
          <a:ln w="12700">
            <a:solidFill>
              <a:srgbClr val="F0CFC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0" y="1874520"/>
            <a:ext cx="31089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unhappy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un-: Adj → Adj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 flipV="1">
            <a:off x="7680960" y="2441448"/>
            <a:ext cx="822960" cy="1536192"/>
          </a:xfrm>
          <a:prstGeom prst="line">
            <a:avLst/>
          </a:prstGeom>
          <a:noFill/>
          <a:ln w="31750">
            <a:solidFill>
              <a:srgbClr val="D98C7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503920" y="329184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F0CFC6"/>
          </a:solidFill>
          <a:ln w="12700">
            <a:solidFill>
              <a:srgbClr val="F0CF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03920" y="3291840"/>
            <a:ext cx="31089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happiness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-ness: Adj → N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 flipV="1">
            <a:off x="7680960" y="3858768"/>
            <a:ext cx="822960" cy="118872"/>
          </a:xfrm>
          <a:prstGeom prst="line">
            <a:avLst/>
          </a:prstGeom>
          <a:noFill/>
          <a:ln w="31750">
            <a:solidFill>
              <a:srgbClr val="D98C7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503920" y="470916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F0CFC6"/>
          </a:solidFill>
          <a:ln w="12700">
            <a:solidFill>
              <a:srgbClr val="F0CF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03920" y="4709160"/>
            <a:ext cx="31089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happily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-ly: Adj → Adv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7680960" y="3977640"/>
            <a:ext cx="822960" cy="1298448"/>
          </a:xfrm>
          <a:prstGeom prst="line">
            <a:avLst/>
          </a:prstGeom>
          <a:noFill/>
          <a:ln w="31750">
            <a:solidFill>
              <a:srgbClr val="D98C7A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Analysis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38404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Criterion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Inflection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Derivation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b="1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Purpose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Express grammar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Form new words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b="1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Function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Tense, number, case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Lexical creation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b="1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Meaning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Same core meaning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or modified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b="1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Word class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Usually unchanged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Often changes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b="1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Productivity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High, regular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Variable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b="1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walk → walked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teach → teacher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870448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C9DCCB"/>
          </a:solidFill>
          <a:ln w="12700">
            <a:solidFill>
              <a:srgbClr val="C9DC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are tendencies, not exception-free rules.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5B7A16D-5502-8425-E2E6-95C480689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003133"/>
              </p:ext>
            </p:extLst>
          </p:nvPr>
        </p:nvGraphicFramePr>
        <p:xfrm>
          <a:off x="335280" y="1520427"/>
          <a:ext cx="11521441" cy="54391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7161">
                  <a:extLst>
                    <a:ext uri="{9D8B030D-6E8A-4147-A177-3AD203B41FA5}">
                      <a16:colId xmlns:a16="http://schemas.microsoft.com/office/drawing/2014/main" val="806411951"/>
                    </a:ext>
                  </a:extLst>
                </a:gridCol>
                <a:gridCol w="2346070">
                  <a:extLst>
                    <a:ext uri="{9D8B030D-6E8A-4147-A177-3AD203B41FA5}">
                      <a16:colId xmlns:a16="http://schemas.microsoft.com/office/drawing/2014/main" val="2022224864"/>
                    </a:ext>
                  </a:extLst>
                </a:gridCol>
                <a:gridCol w="2346070">
                  <a:extLst>
                    <a:ext uri="{9D8B030D-6E8A-4147-A177-3AD203B41FA5}">
                      <a16:colId xmlns:a16="http://schemas.microsoft.com/office/drawing/2014/main" val="2518194250"/>
                    </a:ext>
                  </a:extLst>
                </a:gridCol>
                <a:gridCol w="2346070">
                  <a:extLst>
                    <a:ext uri="{9D8B030D-6E8A-4147-A177-3AD203B41FA5}">
                      <a16:colId xmlns:a16="http://schemas.microsoft.com/office/drawing/2014/main" val="1413860455"/>
                    </a:ext>
                  </a:extLst>
                </a:gridCol>
                <a:gridCol w="2346070">
                  <a:extLst>
                    <a:ext uri="{9D8B030D-6E8A-4147-A177-3AD203B41FA5}">
                      <a16:colId xmlns:a16="http://schemas.microsoft.com/office/drawing/2014/main" val="1542370884"/>
                    </a:ext>
                  </a:extLst>
                </a:gridCol>
              </a:tblGrid>
              <a:tr h="5792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 / Authors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Focus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/ Limitation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2507864454"/>
                  </a:ext>
                </a:extLst>
              </a:tr>
              <a:tr h="13597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TAMS: Translation-Assisted Morphological Segmentation — Rice et al.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translation information to improve morpheme segmentation in low-resource languages.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Translation data can improve segmentation when training data is limited.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Benefits are mixed when more training data is available. </a:t>
                      </a:r>
                    </a:p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ACL Anthology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930360426"/>
                  </a:ext>
                </a:extLst>
              </a:tr>
              <a:tr h="18801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Morphology-Based Investigation of Positional Encodings — Ghosh et al.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Studies morphology and positional encodings across 22 languages and five NLP tasks.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importance of positional encoding decreases as morphological complexity increases.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Further research is needed to represent language-specific morphological complexity in NLP models. </a:t>
                      </a:r>
                    </a:p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ACL Anthology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2231886513"/>
                  </a:ext>
                </a:extLst>
              </a:tr>
              <a:tr h="1619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Annotation of Morphology and Syntax in Dependency Treebanks — Guillaume et al.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Examines how morphological and syntactic structures can be annotated together.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annotation formats represent internal word structure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Consistent annotation remains challenging across languages with different word structures. 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299012445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CD0C6A0-432B-EB12-5E88-CB53A452740F}"/>
              </a:ext>
            </a:extLst>
          </p:cNvPr>
          <p:cNvSpPr txBox="1"/>
          <p:nvPr/>
        </p:nvSpPr>
        <p:spPr>
          <a:xfrm>
            <a:off x="873760" y="1050388"/>
            <a:ext cx="391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Demonstration: Word-Level Analysis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74520"/>
            <a:ext cx="2468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walked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063240" y="18745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63240" y="1874520"/>
            <a:ext cx="21031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257800" y="18745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257800" y="1874520"/>
            <a:ext cx="21031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-ed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inflection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1874520"/>
            <a:ext cx="20116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Verb, past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154680"/>
            <a:ext cx="2468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teachers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063240" y="315468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63240" y="3154680"/>
            <a:ext cx="21031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257800" y="315468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D98C7A"/>
          </a:solidFill>
          <a:ln w="12700">
            <a:solidFill>
              <a:srgbClr val="D98C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57800" y="3154680"/>
            <a:ext cx="21031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-er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derivation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7452360" y="315468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52360" y="3154680"/>
            <a:ext cx="21031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inflection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692640" y="3154680"/>
            <a:ext cx="20116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Plural noun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434840"/>
            <a:ext cx="2468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unhappiness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3063240" y="443484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D98C7A"/>
          </a:solidFill>
          <a:ln w="12700">
            <a:solidFill>
              <a:srgbClr val="D98C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63240" y="4434840"/>
            <a:ext cx="21031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un-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derivation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5257800" y="443484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57800" y="4434840"/>
            <a:ext cx="21031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happy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7452360" y="443484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D98C7A"/>
          </a:solidFill>
          <a:ln w="12700">
            <a:solidFill>
              <a:srgbClr val="D98C7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52360" y="4434840"/>
            <a:ext cx="21031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-ness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derivation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9692640" y="4434840"/>
            <a:ext cx="20116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Abstract noun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594360" y="5760720"/>
            <a:ext cx="320040" cy="32004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05840" y="5669280"/>
            <a:ext cx="2560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3977640" y="5760720"/>
            <a:ext cx="320040" cy="320040"/>
          </a:xfrm>
          <a:prstGeom prst="rect">
            <a:avLst/>
          </a:prstGeom>
          <a:solidFill>
            <a:srgbClr val="D98C7A"/>
          </a:solidFill>
          <a:ln w="12700">
            <a:solidFill>
              <a:srgbClr val="D98C7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389120" y="5669280"/>
            <a:ext cx="2560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derivational</a:t>
            </a:r>
            <a:endParaRPr lang="en-US" sz="2400" dirty="0"/>
          </a:p>
        </p:txBody>
      </p:sp>
      <p:sp>
        <p:nvSpPr>
          <p:cNvPr id="32" name="Shape 29"/>
          <p:cNvSpPr/>
          <p:nvPr/>
        </p:nvSpPr>
        <p:spPr>
          <a:xfrm>
            <a:off x="7360920" y="5760720"/>
            <a:ext cx="320040" cy="3200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0" y="5669280"/>
            <a:ext cx="2560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inflectional</a:t>
            </a:r>
            <a:endParaRPr lang="en-US" sz="2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Demonstration: NLP Processing Workflow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C9DCCB"/>
          </a:solidFill>
          <a:ln w="12700">
            <a:solidFill>
              <a:srgbClr val="C9DC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74520"/>
            <a:ext cx="32004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Text input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794760" y="2286000"/>
            <a:ext cx="640080" cy="0"/>
          </a:xfrm>
          <a:prstGeom prst="line">
            <a:avLst/>
          </a:prstGeom>
          <a:noFill/>
          <a:ln w="31750">
            <a:solidFill>
              <a:srgbClr val="2A7F8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480560" y="187452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D6E6F2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1874520"/>
            <a:ext cx="32004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Tokenization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26680" y="2286000"/>
            <a:ext cx="640080" cy="0"/>
          </a:xfrm>
          <a:prstGeom prst="line">
            <a:avLst/>
          </a:prstGeom>
          <a:noFill/>
          <a:ln w="31750">
            <a:solidFill>
              <a:srgbClr val="2A7F8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412480" y="187452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C9DCCB"/>
          </a:solidFill>
          <a:ln w="12700">
            <a:solidFill>
              <a:srgbClr val="C9DC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0" y="1874520"/>
            <a:ext cx="32004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Morphological analysis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48640" y="288036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D6E6F2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880360"/>
            <a:ext cx="32004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Lemma / root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3794760" y="3291840"/>
            <a:ext cx="640080" cy="0"/>
          </a:xfrm>
          <a:prstGeom prst="line">
            <a:avLst/>
          </a:prstGeom>
          <a:noFill/>
          <a:ln w="31750">
            <a:solidFill>
              <a:srgbClr val="2A7F8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480560" y="288036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C9DCCB"/>
          </a:solidFill>
          <a:ln w="12700">
            <a:solidFill>
              <a:srgbClr val="C9DCC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80560" y="2880360"/>
            <a:ext cx="32004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Feature extraction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7726680" y="3291840"/>
            <a:ext cx="640080" cy="0"/>
          </a:xfrm>
          <a:prstGeom prst="line">
            <a:avLst/>
          </a:prstGeom>
          <a:noFill/>
          <a:ln w="31750">
            <a:solidFill>
              <a:srgbClr val="2A7F8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412480" y="288036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D6E6F2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0" y="2880360"/>
            <a:ext cx="32004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Structured output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Input: “The teachers walked.”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15087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Token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Lemma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Features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b="1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teachers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teacher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NOUN, Number=Plur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b="1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walked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walk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B3A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VERB, Tense=Past</a:t>
                      </a:r>
                      <a:endParaRPr lang="en-US" sz="2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548640" y="5943600"/>
            <a:ext cx="9601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5E70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Related forms now share one lemma.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Study: “teachers”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74520"/>
            <a:ext cx="34747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4160520" y="187452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D98C7A"/>
          </a:solidFill>
          <a:ln w="12700">
            <a:solidFill>
              <a:srgbClr val="D98C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60520" y="1874520"/>
            <a:ext cx="32918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-er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7589520" y="187452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1874520"/>
            <a:ext cx="32918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-s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E70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verb base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E70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derivation (V → N)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E70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inflection (plural)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840480"/>
            <a:ext cx="11064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 (V) → teacher (N) → teachers (N, plural)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Lemmatization: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teachers → teacher.</a:t>
            </a:r>
            <a:endParaRPr lang="en-US" sz="2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Parsing: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separates -er from -s.</a:t>
            </a:r>
            <a:endParaRPr lang="en-US" sz="2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plural agent noun.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Study: Findings and Challenges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74520"/>
            <a:ext cx="60350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Ambiguity: </a:t>
            </a: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-s is plural or verb.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Irregular forms: </a:t>
            </a: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mice, went.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Unseen words: </a:t>
            </a: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outside the lexicon.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Attachment: </a:t>
            </a: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happy → happiness.</a:t>
            </a:r>
            <a:endParaRPr lang="en-US" sz="2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800" b="1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Languages: </a:t>
            </a:r>
            <a:r>
              <a:rPr lang="en-US" sz="28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morphology differs.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0" y="1874520"/>
            <a:ext cx="4754880" cy="1600200"/>
          </a:xfrm>
          <a:prstGeom prst="roundRect">
            <a:avLst>
              <a:gd name="adj" fmla="val 5714"/>
            </a:avLst>
          </a:prstGeom>
          <a:solidFill>
            <a:srgbClr val="F4F9FB"/>
          </a:solidFill>
          <a:ln w="15875">
            <a:solidFill>
              <a:srgbClr val="D98C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95160" y="1892808"/>
            <a:ext cx="4480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8C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errors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2377440"/>
            <a:ext cx="44805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“corner” split as corn + er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858000" y="3611880"/>
            <a:ext cx="4754880" cy="1691640"/>
          </a:xfrm>
          <a:prstGeom prst="roundRect">
            <a:avLst>
              <a:gd name="adj" fmla="val 5405"/>
            </a:avLst>
          </a:prstGeom>
          <a:solidFill>
            <a:srgbClr val="F4F9FB"/>
          </a:solidFill>
          <a:ln w="15875">
            <a:solidFill>
              <a:srgbClr val="5F8F7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3630168"/>
            <a:ext cx="4480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F8F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Remedies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4114800"/>
            <a:ext cx="44805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Rules, lexicons, and machine learning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C9DCCB"/>
          </a:solidFill>
          <a:ln w="12700">
            <a:solidFill>
              <a:srgbClr val="C9DC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5486400"/>
            <a:ext cx="10789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Finding: combine rules, lexicon and context. Illustrative case, not an experiment.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 and Tools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856232"/>
            <a:ext cx="475488" cy="475488"/>
          </a:xfrm>
          <a:prstGeom prst="ellipse">
            <a:avLst/>
          </a:prstGeom>
          <a:solidFill>
            <a:srgbClr val="2A7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82880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 teach, teacher, teachers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94360" y="2496312"/>
            <a:ext cx="475488" cy="475488"/>
          </a:xfrm>
          <a:prstGeom prst="ellipse">
            <a:avLst/>
          </a:prstGeom>
          <a:solidFill>
            <a:srgbClr val="5F8F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46888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Translation: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number, tense, agreement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94360" y="3136392"/>
            <a:ext cx="475488" cy="47548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10896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Lemmatization: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normalize forms for counting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594360" y="3776472"/>
            <a:ext cx="475488" cy="475488"/>
          </a:xfrm>
          <a:prstGeom prst="ellipse">
            <a:avLst/>
          </a:prstGeom>
          <a:solidFill>
            <a:srgbClr val="D98C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776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74904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 and sentiment: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fewer sparse features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594360" y="4416552"/>
            <a:ext cx="475488" cy="475488"/>
          </a:xfrm>
          <a:prstGeom prst="ellipse">
            <a:avLst/>
          </a:prstGeom>
          <a:solidFill>
            <a:srgbClr val="2A7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4416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438912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Information extraction: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name variants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594360" y="5056632"/>
            <a:ext cx="475488" cy="475488"/>
          </a:xfrm>
          <a:prstGeom prst="ellipse">
            <a:avLst/>
          </a:prstGeom>
          <a:solidFill>
            <a:srgbClr val="5F8F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" y="5056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502920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Rich-morphology languages: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Finnish, Turkish, Tamil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594360" y="5696712"/>
            <a:ext cx="475488" cy="475488"/>
          </a:xfrm>
          <a:prstGeom prst="ellipse">
            <a:avLst/>
          </a:prstGeom>
          <a:solidFill>
            <a:srgbClr val="5E70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" y="5696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566928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Tools: </a:t>
            </a: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NLTK, spaCy, Stanza (not run here)</a:t>
            </a:r>
            <a:endParaRPr lang="en-US" sz="2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4F9FB"/>
          </a:solidFill>
          <a:ln w="15875">
            <a:solidFill>
              <a:srgbClr val="2A7F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20240"/>
            <a:ext cx="5577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7F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557784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Inflection adjusts grammar; derivation creates words.</a:t>
            </a:r>
            <a:endParaRPr lang="en-US" sz="2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matter for NLP.</a:t>
            </a:r>
            <a:endParaRPr lang="en-US" sz="2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Simple rules are fast; context handles ambiguity.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766560" y="1874520"/>
            <a:ext cx="4846320" cy="4389120"/>
          </a:xfrm>
          <a:prstGeom prst="roundRect">
            <a:avLst>
              <a:gd name="adj" fmla="val 2083"/>
            </a:avLst>
          </a:prstGeom>
          <a:solidFill>
            <a:srgbClr val="F4F9FB"/>
          </a:solidFill>
          <a:ln w="15875">
            <a:solidFill>
              <a:srgbClr val="D98C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1920240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8C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514600"/>
            <a:ext cx="448056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Multilingual morphology</a:t>
            </a:r>
            <a:endParaRPr lang="en-US" sz="2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Context-aware analysis</a:t>
            </a:r>
            <a:endParaRPr lang="en-US" sz="2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6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Unseen and irregular words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8A"/>
          </a:solidFill>
          <a:ln w="12700">
            <a:solidFill>
              <a:srgbClr val="2A7F8A"/>
            </a:solidFill>
            <a:prstDash val="solid"/>
          </a:ln>
        </p:spPr>
      </p:sp>
      <p:pic>
        <p:nvPicPr>
          <p:cNvPr id="3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"/>
            <a:ext cx="8961120" cy="920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4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09928"/>
            <a:ext cx="128016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Asgari, E., et al. (2026). MorphBPE: Morphology-aware tokenization for efficient LLM training. Findings of ACL 2026. doi:10.18653/v1/2026.findings-acl.2068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 Marco, M., &amp; Fraser, A. (2024). Subword segmentation in LLMs: Looking at inflection and consistency. EMNLP 2024. aclanthology.org/2024.emnlp-main.672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Hofmann, V., et al. (2025). Derivational morphology reveals analogical generalization in large language models. PNAS, 122(19). doi:10.1073/pnas.2423232122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Ismayilzada, M., et al. (2025). Evaluating morphological compositional generalization in large language models. NAACL 2025. aclanthology.org/2025.naacl-long.59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3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Temesgen, T. K., Di Marco, M., &amp; Fraser, A. (2025). Extracting linguistic information from large language models: Syntactic relations and derivational knowledge. EMNLP 2025. doi:10.18653/v1/2025.emnlp-main.1384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400">
                <a:solidFill>
                  <a:srgbClr val="5E70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1073</Words>
  <Application>Microsoft Office PowerPoint</Application>
  <PresentationFormat>Widescreen</PresentationFormat>
  <Paragraphs>246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Inflectional and Derivational Morphology</dc:title>
  <dc:subject>PptxGenJS Presentation</dc:subject>
  <dc:creator>PptxGenJS</dc:creator>
  <cp:lastModifiedBy>C G Charishma</cp:lastModifiedBy>
  <cp:revision>2</cp:revision>
  <dcterms:created xsi:type="dcterms:W3CDTF">2026-10-13T08:33:10Z</dcterms:created>
  <dcterms:modified xsi:type="dcterms:W3CDTF">2026-10-13T08:49:29Z</dcterms:modified>
</cp:coreProperties>
</file>